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0688d34dd28445c" /><Relationship Type="http://schemas.openxmlformats.org/package/2006/relationships/metadata/core-properties" Target="/docProps/core.xml" Id="R447a3db09e914a13" /><Relationship Type="http://schemas.openxmlformats.org/officeDocument/2006/relationships/extended-properties" Target="/docProps/app.xml" Id="R9f49b14a06a2419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04da48190434747"/>
    <p:sldId id="257" r:id="R12336ed84168439c"/>
    <p:sldId id="258" r:id="Re626b684d7754d36"/>
    <p:sldId id="259" r:id="R64b52d03b7b84dda"/>
    <p:sldId id="260" r:id="Rd0cc7538101045f5"/>
    <p:sldId id="261" r:id="Reb81dd2cdbe94d5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04da48190434747" /><Relationship Type="http://schemas.openxmlformats.org/officeDocument/2006/relationships/slide" Target="/ppt/slides/slide2.xml" Id="R12336ed84168439c" /><Relationship Type="http://schemas.openxmlformats.org/officeDocument/2006/relationships/slide" Target="/ppt/slides/slide3.xml" Id="Re626b684d7754d36" /><Relationship Type="http://schemas.openxmlformats.org/officeDocument/2006/relationships/slide" Target="/ppt/slides/slide4.xml" Id="R64b52d03b7b84dda" /><Relationship Type="http://schemas.openxmlformats.org/officeDocument/2006/relationships/slide" Target="/ppt/slides/slide5.xml" Id="Rd0cc7538101045f5" /><Relationship Type="http://schemas.openxmlformats.org/officeDocument/2006/relationships/slide" Target="/ppt/slides/slide6.xml" Id="Reb81dd2cdbe94d5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bdf6c246944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43a66350f45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ba507b8944e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a14fe8cb743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82816fdef434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6c943c9197740c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96e9d516c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1eb2b994b4a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30bb9610c4b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3de6334ec41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c305daf3443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19bf861fc4ee0" /></Relationships>
</file>

<file path=ppt/slides/slide1.xml><?xml version="1.0" encoding="utf-8"?>
<p:sld xmlns:a="http://schemas.openxmlformats.org/drawingml/2006/main" xmlns:p="http://schemas.openxmlformats.org/presentationml/2006/main">
  <p:cSld xmlns:p="http://schemas.openxmlformats.org/presentationml/2006/main">
    <p:bg>
      <p:bgPr>
        <a:gradFill xmlns:a="http://schemas.openxmlformats.org/drawingml/2006/main" rotWithShape="0">
          <a:gsLst>
            <a:gs pos="0">
              <a:srgbClr val="0D1B2A"/>
            </a:gs>
            <a:gs pos="50000">
              <a:srgbClr val="1B2838"/>
            </a:gs>
            <a:gs pos="100000">
              <a:srgbClr val="0A1628"/>
            </a:gs>
          </a:gsLst>
          <a:lin ang="5400000" scaled="1"/>
        </a:gra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100" name="Deco Circle 1"/>
          <p:cNvSpPr/>
          <p:nvPr/>
        </p:nvSpPr>
        <p:spPr>
          <a:xfrm xmlns:a="http://schemas.openxmlformats.org/drawingml/2006/main">
            <a:off x="8500000" y="-1200000"/>
            <a:ext cx="4800000" cy="48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>
              <a:alpha val="8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Deco Circle 2"/>
          <p:cNvSpPr/>
          <p:nvPr/>
        </p:nvSpPr>
        <p:spPr>
          <a:xfrm xmlns:a="http://schemas.openxmlformats.org/drawingml/2006/main">
            <a:off x="-800000" y="4500000"/>
            <a:ext cx="3200000" cy="32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AFF">
              <a:alpha val="6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2" name="Accent Line"/>
          <p:cNvSpPr/>
          <p:nvPr/>
        </p:nvSpPr>
        <p:spPr>
          <a:xfrm xmlns:a="http://schemas.openxmlformats.org/drawingml/2006/main">
            <a:off x="800000" y="4200000"/>
            <a:ext cx="5000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gradFill>
              <a:gsLst>
                <a:gs pos="0">
                  <a:srgbClr val="00B4D8"/>
                </a:gs>
                <a:gs pos="100000">
                  <a:srgbClr val="E0AAFF"/>
                </a:gs>
              </a:gsLst>
              <a:lin ang="0" scaled="1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3" name="Title"/>
          <p:cNvSpPr txBox="1"/>
          <p:nvPr/>
        </p:nvSpPr>
        <p:spPr>
          <a:xfrm xmlns:a="http://schemas.openxmlformats.org/drawingml/2006/main">
            <a:off x="800000" y="1600000"/>
            <a:ext cx="80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/>
            <a:r>
              <a:rPr lang="en-US" sz="5400" b="1" dirty="0">
                <a:solidFill>
                  <a:srgbClr val="FFFFFF"/>
                </a:solidFill>
                <a:latin typeface="Segoe UI"/>
              </a:rPr>
              <a:t>The Art of Design</a:t>
            </a:r>
          </a:p>
        </p:txBody>
      </p:sp>
      <p:sp>
        <p:nvSpPr>
          <p:cNvPr id="104" name="Subtitle"/>
          <p:cNvSpPr txBox="1"/>
          <p:nvPr/>
        </p:nvSpPr>
        <p:spPr>
          <a:xfrm xmlns:a="http://schemas.openxmlformats.org/drawingml/2006/main">
            <a:off x="800000" y="2900000"/>
            <a:ext cx="8000000" cy="11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en-US" sz="2000" dirty="0">
                <a:solidFill>
                  <a:srgbClr val="90E0EF"/>
                </a:solidFill>
                <a:latin typeface="Segoe UI"/>
              </a:rPr>
              <a:t>Crafting Beautiful Experiences</a:t>
            </a:r>
          </a:p>
          <a:p xmlns:a="http://schemas.openxmlformats.org/drawingml/2006/main">
            <a:pPr algn="l"/>
            <a:r>
              <a:rPr lang="en-US" sz="1400" spc="600" dirty="0">
                <a:solidFill>
                  <a:srgbClr val="8B95A2"/>
                </a:solidFill>
                <a:latin typeface="Segoe UI"/>
              </a:rPr>
              <a:t>SIMPLICITY  ·  ELEGANCE  ·  FUNCTION</a:t>
            </a:r>
          </a:p>
        </p:txBody>
      </p:sp>
      <p:sp>
        <p:nvSpPr>
          <p:cNvPr id="105" name="Diamond"/>
          <p:cNvSpPr/>
          <p:nvPr/>
        </p:nvSpPr>
        <p:spPr>
          <a:xfrm xmlns:a="http://schemas.openxmlformats.org/drawingml/2006/main" rot="2700000">
            <a:off x="600000" y="4050000"/>
            <a:ext cx="200000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 xmlns:p="http://schemas.openxmlformats.org/presentationml/2006/main">
    <p:bg>
      <p:bgPr>
        <a:solidFill xmlns:a="http://schemas.openxmlformats.org/drawingml/2006/main">
          <a:srgbClr val="0D1B2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200" name="Section Title"/>
          <p:cNvSpPr txBox="1"/>
          <p:nvPr/>
        </p:nvSpPr>
        <p:spPr>
          <a:xfrm xmlns:a="http://schemas.openxmlformats.org/drawingml/2006/main">
            <a:off x="800000" y="400000"/>
            <a:ext cx="10592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3200" b="1" dirty="0">
                <a:solidFill>
                  <a:srgbClr val="FFFFFF"/>
                </a:solidFill>
                <a:latin typeface="Segoe UI"/>
              </a:rPr>
              <a:t>Three Pillars of Great Design</a:t>
            </a:r>
          </a:p>
        </p:txBody>
      </p:sp>
      <p:sp>
        <p:nvSpPr>
          <p:cNvPr id="201" name="SubLine"/>
          <p:cNvSpPr txBox="1"/>
          <p:nvPr/>
        </p:nvSpPr>
        <p:spPr>
          <a:xfrm xmlns:a="http://schemas.openxmlformats.org/drawingml/2006/main">
            <a:off x="800000" y="1200000"/>
            <a:ext cx="10592000" cy="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400" dirty="0">
                <a:solidFill>
                  <a:srgbClr val="8B95A2"/>
                </a:solidFill>
                <a:latin typeface="Segoe UI"/>
              </a:rPr>
              <a:t>Every exceptional design is built upon these core principles</a:t>
            </a:r>
          </a:p>
        </p:txBody>
      </p:sp>
      <p:sp>
        <p:nvSpPr>
          <p:cNvPr id="210" name="Card1"/>
          <p:cNvSpPr/>
          <p:nvPr/>
        </p:nvSpPr>
        <p:spPr>
          <a:xfrm xmlns:a="http://schemas.openxmlformats.org/drawingml/2006/main">
            <a:off x="900000" y="2000000"/>
            <a:ext cx="3200000" cy="4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238"/>
          </a:solidFill>
          <a:ln xmlns:a="http://schemas.openxmlformats.org/drawingml/2006/main" w="12700">
            <a:solidFill>
              <a:srgbClr val="1E3A5F"/>
            </a:solidFill>
          </a:ln>
        </p:spPr>
        <p:txBody>
          <a:bodyPr xmlns:a="http://schemas.openxmlformats.org/drawingml/2006/main" wrap="square" lIns="228600" tIns="228600" rIns="228600" bIns="228600" anchor="t"/>
          <a:lstStyle xmlns:a="http://schemas.openxmlformats.org/drawingml/2006/main"/>
          <a:p xmlns:a="http://schemas.openxmlformats.org/drawingml/2006/main">
            <a:pPr algn="ctr"/>
            <a:r>
              <a:rPr lang="en-US" sz="4800" dirty="0">
                <a:solidFill>
                  <a:srgbClr val="00B4D8"/>
                </a:solidFill>
              </a:rPr>
              <a:t>○</a:t>
            </a:r>
          </a:p>
          <a:p xmlns:a="http://schemas.openxmlformats.org/drawingml/2006/main">
            <a:pPr algn="ctr"/>
            <a:endParaRPr lang="en-US" sz="800"/>
          </a:p>
          <a:p xmlns:a="http://schemas.openxmlformats.org/drawingml/2006/main">
            <a:pPr algn="ctr"/>
            <a:r>
              <a:rPr lang="en-US" sz="2400" b="1" dirty="0">
                <a:solidFill>
                  <a:srgbClr val="FFFFFF"/>
                </a:solidFill>
                <a:latin typeface="Segoe UI"/>
              </a:rPr>
              <a:t>Simplicity</a:t>
            </a:r>
          </a:p>
          <a:p xmlns:a="http://schemas.openxmlformats.org/drawingml/2006/main">
            <a:pPr algn="ctr"/>
            <a:endParaRPr lang="en-US" sz="600"/>
          </a:p>
          <a:p xmlns:a="http://schemas.openxmlformats.org/drawingml/2006/main">
            <a:pPr algn="ctr"/>
            <a:r>
              <a:rPr lang="en-US" sz="1200" dirty="0">
                <a:solidFill>
                  <a:srgbClr val="8B95A2"/>
                </a:solidFill>
                <a:latin typeface="Segoe UI"/>
              </a:rPr>
              <a:t>Less is more. Strip away the unnecessary to let the essential shine through.</a:t>
            </a:r>
          </a:p>
        </p:txBody>
      </p:sp>
      <p:sp>
        <p:nvSpPr>
          <p:cNvPr id="211" name="Card2"/>
          <p:cNvSpPr/>
          <p:nvPr/>
        </p:nvSpPr>
        <p:spPr>
          <a:xfrm xmlns:a="http://schemas.openxmlformats.org/drawingml/2006/main">
            <a:off x="4496000" y="2000000"/>
            <a:ext cx="3200000" cy="4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238"/>
          </a:solidFill>
          <a:ln xmlns:a="http://schemas.openxmlformats.org/drawingml/2006/main" w="12700">
            <a:solidFill>
              <a:srgbClr val="1E3A5F"/>
            </a:solidFill>
          </a:ln>
        </p:spPr>
        <p:txBody>
          <a:bodyPr xmlns:a="http://schemas.openxmlformats.org/drawingml/2006/main" wrap="square" lIns="228600" tIns="228600" rIns="228600" bIns="228600" anchor="t"/>
          <a:lstStyle xmlns:a="http://schemas.openxmlformats.org/drawingml/2006/main"/>
          <a:p xmlns:a="http://schemas.openxmlformats.org/drawingml/2006/main">
            <a:pPr algn="ctr"/>
            <a:r>
              <a:rPr lang="en-US" sz="4800" dirty="0">
                <a:solidFill>
                  <a:srgbClr val="E0AAFF"/>
                </a:solidFill>
              </a:rPr>
              <a:t>△</a:t>
            </a:r>
          </a:p>
          <a:p xmlns:a="http://schemas.openxmlformats.org/drawingml/2006/main">
            <a:pPr algn="ctr"/>
            <a:endParaRPr lang="en-US" sz="800"/>
          </a:p>
          <a:p xmlns:a="http://schemas.openxmlformats.org/drawingml/2006/main">
            <a:pPr algn="ctr"/>
            <a:r>
              <a:rPr lang="en-US" sz="2400" b="1" dirty="0">
                <a:solidFill>
                  <a:srgbClr val="FFFFFF"/>
                </a:solidFill>
                <a:latin typeface="Segoe UI"/>
              </a:rPr>
              <a:t>Hierarchy</a:t>
            </a:r>
          </a:p>
          <a:p xmlns:a="http://schemas.openxmlformats.org/drawingml/2006/main">
            <a:pPr algn="ctr"/>
            <a:endParaRPr lang="en-US" sz="600"/>
          </a:p>
          <a:p xmlns:a="http://schemas.openxmlformats.org/drawingml/2006/main">
            <a:pPr algn="ctr"/>
            <a:r>
              <a:rPr lang="en-US" sz="1200" dirty="0">
                <a:solidFill>
                  <a:srgbClr val="8B95A2"/>
                </a:solidFill>
                <a:latin typeface="Segoe UI"/>
              </a:rPr>
              <a:t>Guide the eye with size, color, and space. Create a clear visual flow.</a:t>
            </a:r>
          </a:p>
        </p:txBody>
      </p:sp>
      <p:sp>
        <p:nvSpPr>
          <p:cNvPr id="212" name="Card3"/>
          <p:cNvSpPr/>
          <p:nvPr/>
        </p:nvSpPr>
        <p:spPr>
          <a:xfrm xmlns:a="http://schemas.openxmlformats.org/drawingml/2006/main">
            <a:off x="8092000" y="2000000"/>
            <a:ext cx="3200000" cy="4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238"/>
          </a:solidFill>
          <a:ln xmlns:a="http://schemas.openxmlformats.org/drawingml/2006/main" w="12700">
            <a:solidFill>
              <a:srgbClr val="1E3A5F"/>
            </a:solidFill>
          </a:ln>
        </p:spPr>
        <p:txBody>
          <a:bodyPr xmlns:a="http://schemas.openxmlformats.org/drawingml/2006/main" wrap="square" lIns="228600" tIns="228600" rIns="228600" bIns="228600" anchor="t"/>
          <a:lstStyle xmlns:a="http://schemas.openxmlformats.org/drawingml/2006/main"/>
          <a:p xmlns:a="http://schemas.openxmlformats.org/drawingml/2006/main">
            <a:pPr algn="ctr"/>
            <a:r>
              <a:rPr lang="en-US" sz="4800" dirty="0">
                <a:solidFill>
                  <a:srgbClr val="FFD166"/>
                </a:solidFill>
              </a:rPr>
              <a:t>◇</a:t>
            </a:r>
          </a:p>
          <a:p xmlns:a="http://schemas.openxmlformats.org/drawingml/2006/main">
            <a:pPr algn="ctr"/>
            <a:endParaRPr lang="en-US" sz="800"/>
          </a:p>
          <a:p xmlns:a="http://schemas.openxmlformats.org/drawingml/2006/main">
            <a:pPr algn="ctr"/>
            <a:r>
              <a:rPr lang="en-US" sz="2400" b="1" dirty="0">
                <a:solidFill>
                  <a:srgbClr val="FFFFFF"/>
                </a:solidFill>
                <a:latin typeface="Segoe UI"/>
              </a:rPr>
              <a:t>Harmony</a:t>
            </a:r>
          </a:p>
          <a:p xmlns:a="http://schemas.openxmlformats.org/drawingml/2006/main">
            <a:pPr algn="ctr"/>
            <a:endParaRPr lang="en-US" sz="600"/>
          </a:p>
          <a:p xmlns:a="http://schemas.openxmlformats.org/drawingml/2006/main">
            <a:pPr algn="ctr"/>
            <a:r>
              <a:rPr lang="en-US" sz="1200" dirty="0">
                <a:solidFill>
                  <a:srgbClr val="8B95A2"/>
                </a:solidFill>
                <a:latin typeface="Segoe UI"/>
              </a:rPr>
              <a:t>Consistent color, type, and layout create a professional, cohesive experience.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 xmlns:p="http://schemas.openxmlformats.org/presentationml/2006/main">
    <p:bg>
      <p:bgPr>
        <a:gradFill xmlns:a="http://schemas.openxmlformats.org/drawingml/2006/main" rotWithShape="0">
          <a:gsLst>
            <a:gs pos="0">
              <a:srgbClr val="0D1B2A"/>
            </a:gs>
            <a:gs pos="100000">
              <a:srgbClr val="152238"/>
            </a:gs>
          </a:gsLst>
          <a:lin ang="2700000" scaled="1"/>
        </a:gra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300" name="DataTitle"/>
          <p:cNvSpPr txBox="1"/>
          <p:nvPr/>
        </p:nvSpPr>
        <p:spPr>
          <a:xfrm xmlns:a="http://schemas.openxmlformats.org/drawingml/2006/main">
            <a:off x="800000" y="300000"/>
            <a:ext cx="10592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 dirty="0">
                <a:solidFill>
                  <a:srgbClr val="FFFFFF"/>
                </a:solidFill>
                <a:latin typeface="Segoe UI"/>
              </a:rPr>
              <a:t>Data-Driven Design</a:t>
            </a:r>
          </a:p>
        </p:txBody>
      </p:sp>
      <p:sp>
        <p:nvSpPr>
          <p:cNvPr id="301" name="Bar"/>
          <p:cNvSpPr/>
          <p:nvPr/>
        </p:nvSpPr>
        <p:spPr>
          <a:xfrm xmlns:a="http://schemas.openxmlformats.org/drawingml/2006/main">
            <a:off x="800000" y="1050000"/>
            <a:ext cx="3000000" cy="50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4D8"/>
              </a:gs>
              <a:gs pos="100000">
                <a:srgbClr val="E0AAFF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0" name="Stat1"/>
          <p:cNvSpPr txBox="1"/>
          <p:nvPr/>
        </p:nvSpPr>
        <p:spPr>
          <a:xfrm xmlns:a="http://schemas.openxmlformats.org/drawingml/2006/main">
            <a:off x="800000" y="1500000"/>
            <a:ext cx="3400000" cy="220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540"/>
          </a:solidFill>
          <a:ln xmlns:a="http://schemas.openxmlformats.org/drawingml/2006/main" w="19050">
            <a:gradFill>
              <a:gsLst>
                <a:gs pos="0">
                  <a:srgbClr val="00B4D8"/>
                </a:gs>
                <a:gs pos="100000">
                  <a:srgbClr val="0077B6"/>
                </a:gs>
              </a:gsLst>
              <a:lin ang="5400000" scaled="1"/>
            </a:gradFill>
          </a:ln>
        </p:spPr>
        <p:txBody>
          <a:bodyPr xmlns:a="http://schemas.openxmlformats.org/drawingml/2006/main" wrap="square" lIns="228600" tIns="182880" rIns="228600" bIns="182880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 dirty="0">
                <a:solidFill>
                  <a:srgbClr val="00B4D8"/>
                </a:solidFill>
                <a:latin typeface="Segoe UI"/>
              </a:rPr>
              <a:t>98%</a:t>
            </a:r>
          </a:p>
          <a:p xmlns:a="http://schemas.openxmlformats.org/drawingml/2006/main">
            <a:pPr algn="ctr"/>
            <a:r>
              <a:rPr lang="en-US" sz="1400" dirty="0">
                <a:solidFill>
                  <a:srgbClr val="8B95A2"/>
                </a:solidFill>
                <a:latin typeface="Segoe UI"/>
              </a:rPr>
              <a:t>User Satisfaction</a:t>
            </a:r>
          </a:p>
        </p:txBody>
      </p:sp>
      <p:sp>
        <p:nvSpPr>
          <p:cNvPr id="311" name="Stat2"/>
          <p:cNvSpPr txBox="1"/>
          <p:nvPr/>
        </p:nvSpPr>
        <p:spPr>
          <a:xfrm xmlns:a="http://schemas.openxmlformats.org/drawingml/2006/main">
            <a:off x="4500000" y="1500000"/>
            <a:ext cx="3400000" cy="220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540"/>
          </a:solidFill>
          <a:ln xmlns:a="http://schemas.openxmlformats.org/drawingml/2006/main" w="19050">
            <a:gradFill>
              <a:gsLst>
                <a:gs pos="0">
                  <a:srgbClr val="E0AAFF"/>
                </a:gs>
                <a:gs pos="100000">
                  <a:srgbClr val="9B5DE5"/>
                </a:gs>
              </a:gsLst>
              <a:lin ang="5400000" scaled="1"/>
            </a:gradFill>
          </a:ln>
        </p:spPr>
        <p:txBody>
          <a:bodyPr xmlns:a="http://schemas.openxmlformats.org/drawingml/2006/main" wrap="square" lIns="228600" tIns="182880" rIns="228600" bIns="182880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 dirty="0">
                <a:solidFill>
                  <a:srgbClr val="E0AAFF"/>
                </a:solidFill>
                <a:latin typeface="Segoe UI"/>
              </a:rPr>
              <a:t>2.5M</a:t>
            </a:r>
          </a:p>
          <a:p xmlns:a="http://schemas.openxmlformats.org/drawingml/2006/main">
            <a:pPr algn="ctr"/>
            <a:r>
              <a:rPr lang="en-US" sz="1400" dirty="0">
                <a:solidFill>
                  <a:srgbClr val="8B95A2"/>
                </a:solidFill>
                <a:latin typeface="Segoe UI"/>
              </a:rPr>
              <a:t>Monthly Active Users</a:t>
            </a:r>
          </a:p>
        </p:txBody>
      </p:sp>
      <p:sp>
        <p:nvSpPr>
          <p:cNvPr id="312" name="Stat3"/>
          <p:cNvSpPr txBox="1"/>
          <p:nvPr/>
        </p:nvSpPr>
        <p:spPr>
          <a:xfrm xmlns:a="http://schemas.openxmlformats.org/drawingml/2006/main">
            <a:off x="8200000" y="1500000"/>
            <a:ext cx="3400000" cy="220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E2540"/>
          </a:solidFill>
          <a:ln xmlns:a="http://schemas.openxmlformats.org/drawingml/2006/main" w="19050">
            <a:gradFill>
              <a:gsLst>
                <a:gs pos="0">
                  <a:srgbClr val="FFD166"/>
                </a:gs>
                <a:gs pos="100000">
                  <a:srgbClr val="F48C06"/>
                </a:gs>
              </a:gsLst>
              <a:lin ang="5400000" scaled="1"/>
            </a:gradFill>
          </a:ln>
        </p:spPr>
        <p:txBody>
          <a:bodyPr xmlns:a="http://schemas.openxmlformats.org/drawingml/2006/main" wrap="square" lIns="228600" tIns="182880" rIns="228600" bIns="182880" anchor="ctr"/>
          <a:lstStyle xmlns:a="http://schemas.openxmlformats.org/drawingml/2006/main"/>
          <a:p xmlns:a="http://schemas.openxmlformats.org/drawingml/2006/main">
            <a:pPr algn="ctr"/>
            <a:r>
              <a:rPr lang="en-US" sz="5600" b="1" dirty="0">
                <a:solidFill>
                  <a:srgbClr val="FFD166"/>
                </a:solidFill>
                <a:latin typeface="Segoe UI"/>
              </a:rPr>
              <a:t>47ms</a:t>
            </a:r>
          </a:p>
          <a:p xmlns:a="http://schemas.openxmlformats.org/drawingml/2006/main">
            <a:pPr algn="ctr"/>
            <a:r>
              <a:rPr lang="en-US" sz="1400" dirty="0">
                <a:solidFill>
                  <a:srgbClr val="8B95A2"/>
                </a:solidFill>
                <a:latin typeface="Segoe UI"/>
              </a:rPr>
              <a:t>Avg Response Time</a:t>
            </a:r>
          </a:p>
        </p:txBody>
      </p:sp>
      <p:sp>
        <p:nvSpPr>
          <p:cNvPr id="320" name="Desc"/>
          <p:cNvSpPr txBox="1"/>
          <p:nvPr/>
        </p:nvSpPr>
        <p:spPr>
          <a:xfrm xmlns:a="http://schemas.openxmlformats.org/drawingml/2006/main">
            <a:off x="800000" y="4200000"/>
            <a:ext cx="10592000" cy="2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en-US" sz="1400" dirty="0">
                <a:solidFill>
                  <a:srgbClr val="8B95A2"/>
                </a:solidFill>
                <a:latin typeface="Segoe UI"/>
              </a:rPr>
              <a:t>Numbers tell stories. Through thoughtful visual design, every data point</a:t>
            </a:r>
          </a:p>
          <a:p xmlns:a="http://schemas.openxmlformats.org/drawingml/2006/main">
            <a:pPr algn="l"/>
            <a:r>
              <a:rPr lang="en-US" sz="1400" dirty="0">
                <a:solidFill>
                  <a:srgbClr val="8B95A2"/>
                </a:solidFill>
                <a:latin typeface="Segoe UI"/>
              </a:rPr>
              <a:t>communicates its meaning at first glance.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 xmlns:p="http://schemas.openxmlformats.org/presentationml/2006/main">
    <p:bg>
      <p:bgPr>
        <a:gradFill xmlns:a="http://schemas.openxmlformats.org/drawingml/2006/main" rotWithShape="0">
          <a:gsLst>
            <a:gs pos="0">
              <a:srgbClr val="1B2838"/>
            </a:gs>
            <a:gs pos="50000">
              <a:srgbClr val="0D1B2A"/>
            </a:gs>
            <a:gs pos="100000">
              <a:srgbClr val="1B2838"/>
            </a:gs>
          </a:gsLst>
          <a:lin ang="2700000" scaled="1"/>
        </a:gra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400" name="QuoteMark"/>
          <p:cNvSpPr txBox="1"/>
          <p:nvPr/>
        </p:nvSpPr>
        <p:spPr>
          <a:xfrm xmlns:a="http://schemas.openxmlformats.org/drawingml/2006/main">
            <a:off x="1000000" y="800000"/>
            <a:ext cx="3000000" cy="2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en-US" sz="12000" dirty="0">
                <a:solidFill>
                  <a:srgbClr val="00B4D8">
                    <a:alpha val="20000"/>
                  </a:srgbClr>
                </a:solidFill>
                <a:latin typeface="Georgia"/>
              </a:rPr>
              <a:t>“</a:t>
            </a:r>
          </a:p>
        </p:txBody>
      </p:sp>
      <p:sp>
        <p:nvSpPr>
          <p:cNvPr id="401" name="Quote"/>
          <p:cNvSpPr txBox="1"/>
          <p:nvPr/>
        </p:nvSpPr>
        <p:spPr>
          <a:xfrm xmlns:a="http://schemas.openxmlformats.org/drawingml/2006/main">
            <a:off x="1500000" y="2000000"/>
            <a:ext cx="9192000" cy="2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2800" i="1" dirty="0">
                <a:solidFill>
                  <a:srgbClr val="FFFFFF"/>
                </a:solidFill>
                <a:latin typeface="Georgia"/>
              </a:rPr>
              <a:t>Good design is obvious.</a:t>
            </a:r>
          </a:p>
          <a:p xmlns:a="http://schemas.openxmlformats.org/drawingml/2006/main">
            <a:pPr algn="ctr"/>
            <a:r>
              <a:rPr lang="en-US" sz="2800" i="1" dirty="0">
                <a:solidFill>
                  <a:srgbClr val="FFFFFF"/>
                </a:solidFill>
                <a:latin typeface="Georgia"/>
              </a:rPr>
              <a:t>Great design is transparent.</a:t>
            </a:r>
          </a:p>
        </p:txBody>
      </p:sp>
      <p:sp>
        <p:nvSpPr>
          <p:cNvPr id="402" name="Author"/>
          <p:cNvSpPr txBox="1"/>
          <p:nvPr/>
        </p:nvSpPr>
        <p:spPr>
          <a:xfrm xmlns:a="http://schemas.openxmlformats.org/drawingml/2006/main">
            <a:off x="1500000" y="4200000"/>
            <a:ext cx="919200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600" dirty="0">
                <a:solidFill>
                  <a:srgbClr val="00B4D8"/>
                </a:solidFill>
                <a:latin typeface="Segoe UI"/>
              </a:rPr>
              <a:t>— Joe Sparano</a:t>
            </a:r>
          </a:p>
        </p:txBody>
      </p:sp>
      <p:sp>
        <p:nvSpPr>
          <p:cNvPr id="403" name="QuoteLine"/>
          <p:cNvSpPr/>
          <p:nvPr/>
        </p:nvSpPr>
        <p:spPr>
          <a:xfrm xmlns:a="http://schemas.openxmlformats.org/drawingml/2006/main">
            <a:off x="5096000" y="5000000"/>
            <a:ext cx="2000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gradFill>
              <a:gsLst>
                <a:gs pos="0">
                  <a:srgbClr val="00B4D8">
                    <a:alpha val="0"/>
                  </a:srgbClr>
                </a:gs>
                <a:gs pos="50000">
                  <a:srgbClr val="00B4D8"/>
                </a:gs>
                <a:gs pos="100000">
                  <a:srgbClr val="00B4D8">
                    <a:alpha val="0"/>
                  </a:srgbClr>
                </a:gs>
              </a:gsLst>
              <a:lin ang="0" scaled="1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 xmlns:p="http://schemas.openxmlformats.org/presentationml/2006/main">
    <p:bg>
      <p:bgPr>
        <a:solidFill xmlns:a="http://schemas.openxmlformats.org/drawingml/2006/main">
          <a:srgbClr val="0D1B2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500" name="ProcessTitle"/>
          <p:cNvSpPr txBox="1"/>
          <p:nvPr/>
        </p:nvSpPr>
        <p:spPr>
          <a:xfrm xmlns:a="http://schemas.openxmlformats.org/drawingml/2006/main">
            <a:off x="800000" y="300000"/>
            <a:ext cx="10592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3200" b="1" dirty="0">
                <a:solidFill>
                  <a:srgbClr val="FFFFFF"/>
                </a:solidFill>
                <a:latin typeface="Segoe UI"/>
              </a:rPr>
              <a:t>Design Process</a:t>
            </a:r>
          </a:p>
        </p:txBody>
      </p:sp>
      <p:sp>
        <p:nvSpPr>
          <p:cNvPr id="501" name="ConnLine"/>
          <p:cNvSpPr/>
          <p:nvPr/>
        </p:nvSpPr>
        <p:spPr>
          <a:xfrm xmlns:a="http://schemas.openxmlformats.org/drawingml/2006/main">
            <a:off x="1800000" y="2800000"/>
            <a:ext cx="8600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gradFill>
              <a:gsLst>
                <a:gs pos="0">
                  <a:srgbClr val="00B4D8"/>
                </a:gs>
                <a:gs pos="33000">
                  <a:srgbClr val="E0AAFF"/>
                </a:gs>
                <a:gs pos="66000">
                  <a:srgbClr val="FFD166"/>
                </a:gs>
                <a:gs pos="100000">
                  <a:srgbClr val="06D6A0"/>
                </a:gs>
              </a:gsLst>
              <a:lin ang="0" scaled="1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0" name="Step1"/>
          <p:cNvSpPr/>
          <p:nvPr/>
        </p:nvSpPr>
        <p:spPr>
          <a:xfrm xmlns:a="http://schemas.openxmlformats.org/drawingml/2006/main">
            <a:off x="1400000" y="2200000"/>
            <a:ext cx="1200000" cy="12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>
              <a:alpha val="15000"/>
            </a:srgbClr>
          </a:solidFill>
          <a:ln xmlns:a="http://schemas.openxmlformats.org/drawingml/2006/main" w="38100">
            <a:solidFill>
              <a:srgbClr val="00B4D8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 dirty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511" name="Label1"/>
          <p:cNvSpPr txBox="1"/>
          <p:nvPr/>
        </p:nvSpPr>
        <p:spPr>
          <a:xfrm xmlns:a="http://schemas.openxmlformats.org/drawingml/2006/main">
            <a:off x="1400000" y="3600000"/>
            <a:ext cx="12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 dirty="0">
                <a:solidFill>
                  <a:srgbClr val="FFFFFF"/>
                </a:solidFill>
                <a:latin typeface="Segoe UI"/>
              </a:rPr>
              <a:t>Research</a:t>
            </a:r>
          </a:p>
        </p:txBody>
      </p:sp>
      <p:sp>
        <p:nvSpPr>
          <p:cNvPr id="512" name="Step2"/>
          <p:cNvSpPr/>
          <p:nvPr/>
        </p:nvSpPr>
        <p:spPr>
          <a:xfrm xmlns:a="http://schemas.openxmlformats.org/drawingml/2006/main">
            <a:off x="3600000" y="2200000"/>
            <a:ext cx="1200000" cy="12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AFF">
              <a:alpha val="15000"/>
            </a:srgbClr>
          </a:solidFill>
          <a:ln xmlns:a="http://schemas.openxmlformats.org/drawingml/2006/main" w="38100">
            <a:solidFill>
              <a:srgbClr val="E0AAFF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 dirty="0">
                <a:solidFill>
                  <a:srgbClr val="E0AAFF"/>
                </a:solidFill>
              </a:rPr>
              <a:t>02</a:t>
            </a:r>
          </a:p>
        </p:txBody>
      </p:sp>
      <p:sp>
        <p:nvSpPr>
          <p:cNvPr id="513" name="Label2"/>
          <p:cNvSpPr txBox="1"/>
          <p:nvPr/>
        </p:nvSpPr>
        <p:spPr>
          <a:xfrm xmlns:a="http://schemas.openxmlformats.org/drawingml/2006/main">
            <a:off x="3600000" y="3600000"/>
            <a:ext cx="12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 dirty="0">
                <a:solidFill>
                  <a:srgbClr val="FFFFFF"/>
                </a:solidFill>
                <a:latin typeface="Segoe UI"/>
              </a:rPr>
              <a:t>Ideate</a:t>
            </a:r>
          </a:p>
        </p:txBody>
      </p:sp>
      <p:sp>
        <p:nvSpPr>
          <p:cNvPr id="514" name="Step3"/>
          <p:cNvSpPr/>
          <p:nvPr/>
        </p:nvSpPr>
        <p:spPr>
          <a:xfrm xmlns:a="http://schemas.openxmlformats.org/drawingml/2006/main">
            <a:off x="5800000" y="2200000"/>
            <a:ext cx="1200000" cy="12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5000"/>
            </a:srgbClr>
          </a:solidFill>
          <a:ln xmlns:a="http://schemas.openxmlformats.org/drawingml/2006/main" w="38100">
            <a:solidFill>
              <a:srgbClr val="FFD166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 dirty="0">
                <a:solidFill>
                  <a:srgbClr val="FFD166"/>
                </a:solidFill>
              </a:rPr>
              <a:t>03</a:t>
            </a:r>
          </a:p>
        </p:txBody>
      </p:sp>
      <p:sp>
        <p:nvSpPr>
          <p:cNvPr id="515" name="Label3"/>
          <p:cNvSpPr txBox="1"/>
          <p:nvPr/>
        </p:nvSpPr>
        <p:spPr>
          <a:xfrm xmlns:a="http://schemas.openxmlformats.org/drawingml/2006/main">
            <a:off x="5800000" y="3600000"/>
            <a:ext cx="12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 dirty="0">
                <a:solidFill>
                  <a:srgbClr val="FFFFFF"/>
                </a:solidFill>
                <a:latin typeface="Segoe UI"/>
              </a:rPr>
              <a:t>Design</a:t>
            </a:r>
          </a:p>
        </p:txBody>
      </p:sp>
      <p:sp>
        <p:nvSpPr>
          <p:cNvPr id="516" name="Step4"/>
          <p:cNvSpPr/>
          <p:nvPr/>
        </p:nvSpPr>
        <p:spPr>
          <a:xfrm xmlns:a="http://schemas.openxmlformats.org/drawingml/2006/main">
            <a:off x="8000000" y="2200000"/>
            <a:ext cx="1200000" cy="12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D6A0">
              <a:alpha val="15000"/>
            </a:srgbClr>
          </a:solidFill>
          <a:ln xmlns:a="http://schemas.openxmlformats.org/drawingml/2006/main" w="38100">
            <a:solidFill>
              <a:srgbClr val="06D6A0"/>
            </a:solidFill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 dirty="0">
                <a:solidFill>
                  <a:srgbClr val="06D6A0"/>
                </a:solidFill>
              </a:rPr>
              <a:t>04</a:t>
            </a:r>
          </a:p>
        </p:txBody>
      </p:sp>
      <p:sp>
        <p:nvSpPr>
          <p:cNvPr id="517" name="Label4"/>
          <p:cNvSpPr txBox="1"/>
          <p:nvPr/>
        </p:nvSpPr>
        <p:spPr>
          <a:xfrm xmlns:a="http://schemas.openxmlformats.org/drawingml/2006/main">
            <a:off x="8000000" y="3600000"/>
            <a:ext cx="12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 dirty="0">
                <a:solidFill>
                  <a:srgbClr val="FFFFFF"/>
                </a:solidFill>
                <a:latin typeface="Segoe UI"/>
              </a:rPr>
              <a:t>Validate</a:t>
            </a:r>
          </a:p>
        </p:txBody>
      </p:sp>
      <p:sp>
        <p:nvSpPr>
          <p:cNvPr id="530" name="Bottom"/>
          <p:cNvSpPr txBox="1"/>
          <p:nvPr/>
        </p:nvSpPr>
        <p:spPr>
          <a:xfrm xmlns:a="http://schemas.openxmlformats.org/drawingml/2006/main">
            <a:off x="800000" y="5000000"/>
            <a:ext cx="1059200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1200" dirty="0">
                <a:solidFill>
                  <a:srgbClr val="8B95A2"/>
                </a:solidFill>
                <a:latin typeface="Segoe UI"/>
              </a:rPr>
              <a:t>Every step is iterative. From research to validation, we refine until perfection.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 xmlns:p="http://schemas.openxmlformats.org/presentationml/2006/main">
    <p:bg>
      <p:bgPr>
        <a:gradFill xmlns:a="http://schemas.openxmlformats.org/drawingml/2006/main" rotWithShape="0">
          <a:gsLst>
            <a:gs pos="0">
              <a:srgbClr val="0A1628"/>
            </a:gs>
            <a:gs pos="50000">
              <a:srgbClr val="0D1B2A"/>
            </a:gs>
            <a:gs pos="100000">
              <a:srgbClr val="1B2838"/>
            </a:gs>
          </a:gsLst>
          <a:lin ang="5400000" scaled="1"/>
        </a:gra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600" name="Ring"/>
          <p:cNvSpPr/>
          <p:nvPr/>
        </p:nvSpPr>
        <p:spPr>
          <a:xfrm xmlns:a="http://schemas.openxmlformats.org/drawingml/2006/main">
            <a:off x="3596000" y="800000"/>
            <a:ext cx="5000000" cy="500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>
            <a:gradFill>
              <a:gsLst>
                <a:gs pos="0">
                  <a:srgbClr val="00B4D8">
                    <a:alpha val="30000"/>
                  </a:srgbClr>
                </a:gs>
                <a:gs pos="50000">
                  <a:srgbClr val="E0AAFF">
                    <a:alpha val="30000"/>
                  </a:srgbClr>
                </a:gs>
                <a:gs pos="100000">
                  <a:srgbClr val="FFD166">
                    <a:alpha val="30000"/>
                  </a:srgbClr>
                </a:gs>
              </a:gsLst>
              <a:lin ang="2700000" scaled="1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1" name="Thanks"/>
          <p:cNvSpPr txBox="1"/>
          <p:nvPr/>
        </p:nvSpPr>
        <p:spPr>
          <a:xfrm xmlns:a="http://schemas.openxmlformats.org/drawingml/2006/main">
            <a:off x="1500000" y="2200000"/>
            <a:ext cx="9192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en-US" sz="4800" b="1" dirty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02" name="ClosingSub"/>
          <p:cNvSpPr txBox="1"/>
          <p:nvPr/>
        </p:nvSpPr>
        <p:spPr>
          <a:xfrm xmlns:a="http://schemas.openxmlformats.org/drawingml/2006/main">
            <a:off x="1500000" y="3600000"/>
            <a:ext cx="91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en-US" sz="1600" dirty="0">
                <a:solidFill>
                  <a:srgbClr val="90E0EF"/>
                </a:solidFill>
                <a:latin typeface="Segoe UI"/>
              </a:rPr>
              <a:t>Design is not just what it looks like — it’s how it works.</a:t>
            </a:r>
          </a:p>
        </p:txBody>
      </p:sp>
      <p:sp>
        <p:nvSpPr>
          <p:cNvPr id="603" name="D1"/>
          <p:cNvSpPr/>
          <p:nvPr/>
        </p:nvSpPr>
        <p:spPr>
          <a:xfrm xmlns:a="http://schemas.openxmlformats.org/drawingml/2006/main" rot="2700000">
            <a:off x="5850000" y="4700000"/>
            <a:ext cx="120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4" name="D2"/>
          <p:cNvSpPr/>
          <p:nvPr/>
        </p:nvSpPr>
        <p:spPr>
          <a:xfrm xmlns:a="http://schemas.openxmlformats.org/drawingml/2006/main" rot="2700000">
            <a:off x="6100000" y="4700000"/>
            <a:ext cx="120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A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5" name="D3"/>
          <p:cNvSpPr/>
          <p:nvPr/>
        </p:nvSpPr>
        <p:spPr>
          <a:xfrm xmlns:a="http://schemas.openxmlformats.org/drawingml/2006/main" rot="2700000">
            <a:off x="6350000" y="4700000"/>
            <a:ext cx="120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OfficeCLI/1.0.68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2026-05-06T19:26:29Z</dcterms:created>
  <cp:lastModifiedBy>OfficeCLI</cp:lastModifiedBy>
  <dcterms:modified xsi:type="dcterms:W3CDTF">2026-05-06T19:26:29Z</dcterms:modified>
</cp:coreProperties>
</file>